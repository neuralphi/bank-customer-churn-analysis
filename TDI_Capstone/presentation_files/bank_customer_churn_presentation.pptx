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rPr dirty="0"/>
              <a:t>Bank Customer </a:t>
            </a:r>
            <a:r>
              <a:rPr dirty="0">
                <a:solidFill>
                  <a:srgbClr val="DEFF9A"/>
                </a:solidFill>
              </a:rPr>
              <a:t>Churn Analysis</a:t>
            </a:r>
          </a:p>
          <a:p>
            <a:pPr>
              <a:spcBef>
                <a:spcPts val="2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rPr dirty="0"/>
              <a:t>Exploring Behavio</a:t>
            </a:r>
            <a:r>
              <a:rPr lang="en-US" dirty="0"/>
              <a:t>u</a:t>
            </a:r>
            <a:r>
              <a:rPr dirty="0"/>
              <a:t>ral Drivers and Building a Predictive </a:t>
            </a:r>
            <a:r>
              <a:rPr lang="en-US" dirty="0"/>
              <a:t>Model</a:t>
            </a:r>
            <a:r>
              <a:rPr dirty="0"/>
              <a:t> for Institutional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The </a:t>
            </a:r>
            <a:r>
              <a:rPr>
                <a:solidFill>
                  <a:srgbClr val="DEFF9A"/>
                </a:solidFill>
              </a:rPr>
              <a:t>Churn Crisis</a:t>
            </a:r>
          </a:p>
          <a:p>
            <a:pPr algn="ctr">
              <a:spcBef>
                <a:spcPts val="16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Understanding the 20.37% leak and the cost of institutional silence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Dataset </a:t>
            </a:r>
            <a:r>
              <a:rPr sz="4000" b="1">
                <a:solidFill>
                  <a:srgbClr val="DEFF9A"/>
                </a:solidFill>
                <a:latin typeface="Arial"/>
              </a:rPr>
              <a:t>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2800" b="1">
                <a:solidFill>
                  <a:srgbClr val="DEFF9A"/>
                </a:solidFill>
                <a:latin typeface="Arial"/>
              </a:defRPr>
            </a:pPr>
            <a:r>
              <a:rPr dirty="0"/>
              <a:t>10,000 Records</a:t>
            </a:r>
          </a:p>
          <a:p>
            <a:br>
              <a:rPr dirty="0"/>
            </a:br>
            <a:r>
              <a:rPr dirty="0"/>
              <a:t>Cleaned European banking portfolio encompassing 10k unique customer relationships across France, Germany, and Spain.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39535" y="2011680"/>
            <a:ext cx="5120640" cy="36576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2800" b="1">
                <a:solidFill>
                  <a:srgbClr val="DEFF9A"/>
                </a:solidFill>
                <a:latin typeface="Arial"/>
              </a:defRPr>
            </a:pPr>
            <a:r>
              <a:t>14 Critical Features</a:t>
            </a:r>
          </a:p>
          <a:p>
            <a:br/>
            <a:r>
              <a:t>Comprehensive behavioral tracking: Credit scores, balance tiers, product counts, tenure, and active transactional markers.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Regional </a:t>
            </a:r>
            <a:r>
              <a:rPr sz="4000" b="1">
                <a:solidFill>
                  <a:srgbClr val="DEFF9A"/>
                </a:solidFill>
                <a:latin typeface="Arial"/>
              </a:rPr>
              <a:t>Churn Disparities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2057400"/>
            <a:ext cx="731520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60320" y="2057400"/>
            <a:ext cx="237305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4810" y="20116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32.44%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Spain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154680"/>
            <a:ext cx="731520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0" y="3154680"/>
            <a:ext cx="1219443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1203" y="31089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16.67%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France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251959"/>
            <a:ext cx="731520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60320" y="4251959"/>
            <a:ext cx="1181404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3164" y="42062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16.15%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303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94A3B8"/>
                </a:solidFill>
                <a:latin typeface="Arial"/>
              </a:defRPr>
            </a:pPr>
            <a:r>
              <a:t>* Germany is the primary operational leak, experiencing double the churn rate of neighboring branches despite its smaller overall customer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The </a:t>
            </a:r>
            <a:r>
              <a:rPr sz="4000" b="1">
                <a:solidFill>
                  <a:srgbClr val="DEFF9A"/>
                </a:solidFill>
                <a:latin typeface="Arial"/>
              </a:rPr>
              <a:t>Age Risk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DEFF9A"/>
                </a:solidFill>
                <a:latin typeface="Arial"/>
              </a:defRPr>
            </a:pPr>
            <a:r>
              <a:t>51.12%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Churn Rate in Older Adults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37744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Structural Demographic Exposure</a:t>
            </a:r>
          </a:p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Customers aged 46–60 represent a critical emergency segment. While loyalty is high among Young Adults (7.52%), attrition scales aggressively as clients mature into their peak wealth and life stages, dropping back slightly only during seniority (24.78%).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The </a:t>
            </a:r>
            <a:r>
              <a:rPr sz="4000" b="1">
                <a:solidFill>
                  <a:srgbClr val="DEFF9A"/>
                </a:solidFill>
                <a:latin typeface="Arial"/>
              </a:rPr>
              <a:t>"Rule of 2"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Arial"/>
              </a:defRPr>
            </a:pPr>
            <a:r>
              <a:t>1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74519"/>
            <a:ext cx="73152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60320" y="1874519"/>
            <a:ext cx="2027041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78801" y="18288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rPr dirty="0"/>
              <a:t>27.71%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Arial"/>
              </a:defRPr>
            </a:pPr>
            <a:r>
              <a:t>2 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880360"/>
            <a:ext cx="73152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0" y="2880360"/>
            <a:ext cx="554492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6252" y="28346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rPr dirty="0"/>
              <a:t>7.58%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Arial"/>
              </a:defRPr>
            </a:pPr>
            <a:r>
              <a:t>3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886200"/>
            <a:ext cx="73152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60320" y="3886200"/>
            <a:ext cx="6050401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02161" y="38404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82.71%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Arial"/>
              </a:defRPr>
            </a:pPr>
            <a:r>
              <a:t>4 Products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92040"/>
            <a:ext cx="73152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60320" y="4892040"/>
            <a:ext cx="731520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4846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100.0%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760720"/>
            <a:ext cx="8686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94A3B8"/>
                </a:solidFill>
                <a:latin typeface="Arial"/>
              </a:defRPr>
            </a:pPr>
            <a:r>
              <a:rPr dirty="0"/>
              <a:t>Holding exactly two products serves as a massive loyalty anchor. Cross-selling beyond this threshold triggers catastrophic, near-total customer defection.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The </a:t>
            </a:r>
            <a:r>
              <a:rPr sz="4000" b="1">
                <a:solidFill>
                  <a:srgbClr val="DEFF9A"/>
                </a:solidFill>
                <a:latin typeface="Arial"/>
              </a:rPr>
              <a:t>Active Member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50592"/>
            <a:ext cx="10515600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DEFF9A"/>
                </a:solidFill>
                <a:latin typeface="Arial"/>
              </a:defRPr>
            </a:pPr>
            <a:r>
              <a:rPr dirty="0"/>
              <a:t>Engagement is More Powerful Than Acquisition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Maintaining an 'Active Member' status effectively slashes churn risk by roughly half across France, Germany, and Spain.</a:t>
            </a:r>
            <a:br>
              <a:rPr dirty="0"/>
            </a:br>
            <a:br>
              <a:rPr dirty="0"/>
            </a:br>
            <a:r>
              <a:rPr dirty="0"/>
              <a:t>• This effect is most profound in Germany, where moving a customer from a passive to an active transactional state drops their regional churn risk from an extreme 41.08% down to a manageable 23.72%.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Advanced </a:t>
            </a:r>
            <a:r>
              <a:rPr sz="4000" b="1">
                <a:solidFill>
                  <a:srgbClr val="DEFF9A"/>
                </a:solidFill>
                <a:latin typeface="Arial"/>
              </a:rPr>
              <a:t>Statistical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3291840" cy="36576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2200" b="1">
                <a:solidFill>
                  <a:srgbClr val="DEFF9A"/>
                </a:solidFill>
              </a:defRPr>
            </a:pPr>
            <a:r>
              <a:t>Customer Activity</a:t>
            </a:r>
          </a:p>
          <a:p>
            <a:br/>
            <a:r>
              <a:t>p-value = 0.000000</a:t>
            </a:r>
            <a:br/>
            <a:br/>
            <a:r>
              <a:t>Reject Null Hypothesis.</a:t>
            </a:r>
            <a:br/>
            <a:br/>
            <a:r>
              <a:t>Active status is a mathematically proven anchor for customer retention.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2103120"/>
            <a:ext cx="3291840" cy="36576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rPr dirty="0"/>
              <a:t>Credit Card Hold</a:t>
            </a:r>
          </a:p>
          <a:p>
            <a:br>
              <a:rPr dirty="0"/>
            </a:br>
            <a:r>
              <a:rPr dirty="0"/>
              <a:t>p-value = 0.492372</a:t>
            </a:r>
            <a:br>
              <a:rPr dirty="0"/>
            </a:br>
            <a:br>
              <a:rPr dirty="0"/>
            </a:br>
            <a:r>
              <a:rPr dirty="0"/>
              <a:t>Fail to Reject Null.</a:t>
            </a:r>
            <a:br>
              <a:rPr dirty="0"/>
            </a:br>
            <a:br>
              <a:rPr dirty="0"/>
            </a:br>
            <a:r>
              <a:rPr dirty="0"/>
              <a:t>Owning a credit card has no independent statistical connection with churn.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2103120"/>
            <a:ext cx="3291840" cy="36576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Core Takeaway</a:t>
            </a:r>
          </a:p>
          <a:p>
            <a:br>
              <a:rPr dirty="0"/>
            </a:br>
            <a:r>
              <a:rPr lang="en-US" dirty="0"/>
              <a:t>Don’t</a:t>
            </a:r>
            <a:r>
              <a:rPr dirty="0"/>
              <a:t> </a:t>
            </a:r>
            <a:r>
              <a:rPr lang="en-US" dirty="0"/>
              <a:t>waste</a:t>
            </a:r>
            <a:r>
              <a:rPr dirty="0"/>
              <a:t> budget pushing credit cards as a</a:t>
            </a:r>
            <a:r>
              <a:rPr lang="en-US" dirty="0"/>
              <a:t> core</a:t>
            </a:r>
            <a:r>
              <a:rPr dirty="0"/>
              <a:t> retention tool.</a:t>
            </a:r>
            <a:br>
              <a:rPr dirty="0"/>
            </a:br>
            <a:br>
              <a:rPr dirty="0"/>
            </a:br>
            <a:r>
              <a:rPr dirty="0"/>
              <a:t>Shift resources entirely to interactive membership and usage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Predictive </a:t>
            </a:r>
            <a:r>
              <a:rPr sz="4000" b="1">
                <a:solidFill>
                  <a:srgbClr val="DEFF9A"/>
                </a:solidFill>
                <a:latin typeface="Arial"/>
              </a:rPr>
              <a:t>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DEFF9A"/>
                </a:solidFill>
                <a:latin typeface="Arial"/>
              </a:defRPr>
            </a:pPr>
            <a:r>
              <a:t>86.05%</a:t>
            </a:r>
          </a:p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Overall Model Classification Accuracy (Random Forest Classifier)</a:t>
            </a:r>
            <a:br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4754880"/>
            <a:ext cx="9448495" cy="914400"/>
          </a:xfrm>
          <a:prstGeom prst="rect">
            <a:avLst/>
          </a:prstGeom>
          <a:solidFill>
            <a:srgbClr val="161B2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Provides a robust, ready-to-deploy early warning system to flag high-risk accounts before they exit.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Model </a:t>
            </a:r>
            <a:r>
              <a:rPr sz="4000" b="1">
                <a:solidFill>
                  <a:srgbClr val="DEFF9A"/>
                </a:solidFill>
                <a:latin typeface="Arial"/>
              </a:rPr>
              <a:t>Operational Value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51206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3200" b="1">
                <a:solidFill>
                  <a:srgbClr val="DEFF9A"/>
                </a:solidFill>
              </a:defRPr>
            </a:pPr>
            <a:r>
              <a:t>78% Precision</a:t>
            </a:r>
          </a:p>
          <a:p>
            <a:br/>
            <a:r>
              <a:t>When the model triggers an alert, it is correct 78% of the time. This guarantees low false alarms, ensuring retention budget is never wasted on loyal customers.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9535" y="2286000"/>
            <a:ext cx="51206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40% Recall</a:t>
            </a:r>
          </a:p>
          <a:p>
            <a:br/>
            <a:r>
              <a:t>The model catches 40% of absolute flight risks. It operates conservatively, prioritizing highly trustworthy alerts while leaving room to capture quiet quitters in version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Strategic </a:t>
            </a:r>
            <a:r>
              <a:rPr sz="4000" b="1">
                <a:solidFill>
                  <a:srgbClr val="DEFF9A"/>
                </a:solidFill>
                <a:latin typeface="Arial"/>
              </a:rPr>
              <a:t>Action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DEFF9A"/>
                </a:solidFill>
                <a:latin typeface="Arial"/>
              </a:rPr>
              <a:t>✔ Enforce the 'Rule of 2' Guardrail:</a:t>
            </a:r>
            <a:r>
              <a:rPr sz="1800">
                <a:solidFill>
                  <a:srgbClr val="FFFFFF"/>
                </a:solidFill>
                <a:latin typeface="Arial"/>
              </a:rPr>
              <a:t> Incentivize single-product users up to a second product. Halt automated cross-selling beyond 2 products to avoid near-total customer defection (82%+).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DEFF9A"/>
                </a:solidFill>
                <a:latin typeface="Arial"/>
              </a:rPr>
              <a:t>✔ Execute German Market Intervention:</a:t>
            </a:r>
            <a:r>
              <a:rPr sz="1800">
                <a:solidFill>
                  <a:srgbClr val="FFFFFF"/>
                </a:solidFill>
                <a:latin typeface="Arial"/>
              </a:rPr>
              <a:t> Launch deep policy and app localization audits to address the 32.44% regional leak, focusing immediately on the high-risk German Female demographic (37.55% churn).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DEFF9A"/>
                </a:solidFill>
                <a:latin typeface="Arial"/>
              </a:rPr>
              <a:t>✔ Deploy Older Adult Engagement:</a:t>
            </a:r>
            <a:r>
              <a:rPr sz="1800">
                <a:solidFill>
                  <a:srgbClr val="FFFFFF"/>
                </a:solidFill>
                <a:latin typeface="Arial"/>
              </a:rPr>
              <a:t> Design specialized wealth-preservation perks for the 46–60 age bracket (51.12% baseline churn), selectively bundling credit cards to anchor long-term savings.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DEFF9A"/>
                </a:solidFill>
                <a:latin typeface="Arial"/>
              </a:rPr>
              <a:t>✔ Shift Marketing Budgets to Engagement:</a:t>
            </a:r>
            <a:r>
              <a:rPr sz="1800">
                <a:solidFill>
                  <a:srgbClr val="FFFFFF"/>
                </a:solidFill>
                <a:latin typeface="Arial"/>
              </a:rPr>
              <a:t> Move funding from expensive raw acquisition to behavioral active membership triggers (e.g., waived maintenance fees for online bill-pay usage).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62041"/>
            <a:ext cx="10362895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rPr sz="6600" dirty="0"/>
              <a:t>Questions</a:t>
            </a:r>
            <a:endParaRPr lang="en-US" sz="6600" dirty="0"/>
          </a:p>
          <a:p>
            <a:pPr algn="ctr">
              <a:spcBef>
                <a:spcPts val="16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rPr lang="en-US" dirty="0"/>
              <a:t>Thank you for your time.</a:t>
            </a:r>
          </a:p>
          <a:p>
            <a:pPr algn="ctr">
              <a:spcBef>
                <a:spcPts val="1600"/>
              </a:spcBef>
              <a:defRPr sz="2000">
                <a:solidFill>
                  <a:srgbClr val="94A3B8"/>
                </a:solidFill>
                <a:latin typeface="Arial"/>
              </a:defRPr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</TotalTime>
  <Words>609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Joshua Opadoja</cp:lastModifiedBy>
  <cp:revision>12</cp:revision>
  <dcterms:created xsi:type="dcterms:W3CDTF">2013-01-27T09:14:16Z</dcterms:created>
  <dcterms:modified xsi:type="dcterms:W3CDTF">2026-06-22T19:54:06Z</dcterms:modified>
  <cp:category/>
</cp:coreProperties>
</file>